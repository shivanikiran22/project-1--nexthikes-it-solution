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0" r:id="rId3"/>
    <p:sldId id="289" r:id="rId4"/>
    <p:sldId id="291" r:id="rId5"/>
    <p:sldId id="278" r:id="rId6"/>
    <p:sldId id="286" r:id="rId7"/>
    <p:sldId id="279" r:id="rId8"/>
    <p:sldId id="282" r:id="rId9"/>
    <p:sldId id="281" r:id="rId10"/>
    <p:sldId id="288" r:id="rId11"/>
    <p:sldId id="284" r:id="rId12"/>
    <p:sldId id="287" r:id="rId13"/>
    <p:sldId id="285" r:id="rId14"/>
    <p:sldId id="292" r:id="rId15"/>
    <p:sldId id="293" r:id="rId16"/>
    <p:sldId id="29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95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521098" y="3251516"/>
            <a:ext cx="10515600" cy="44319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lang="en-IN" sz="2400" b="1" dirty="0">
                <a:solidFill>
                  <a:srgbClr val="7A917D"/>
                </a:solidFill>
                <a:latin typeface="Aptos"/>
              </a:rPr>
              <a:t>PROJECT FROM - </a:t>
            </a:r>
            <a:r>
              <a:rPr sz="2400" b="1" dirty="0">
                <a:solidFill>
                  <a:srgbClr val="7A917D"/>
                </a:solidFill>
                <a:latin typeface="Aptos"/>
              </a:rPr>
              <a:t>NEXTHIKES IT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14120"/>
            <a:ext cx="10241280" cy="6894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lang="en-IN" sz="4000" b="1" dirty="0">
                <a:solidFill>
                  <a:srgbClr val="395245"/>
                </a:solidFill>
                <a:latin typeface="Aptos"/>
              </a:rPr>
              <a:t>BIKE SHARING DEMAND ANALYSIS</a:t>
            </a:r>
            <a:endParaRPr sz="4000" b="1" dirty="0">
              <a:solidFill>
                <a:srgbClr val="39524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0" y="5806440"/>
            <a:ext cx="3383280" cy="6894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lang="en-IN" sz="2000" b="1" dirty="0">
                <a:solidFill>
                  <a:srgbClr val="395245"/>
                </a:solidFill>
                <a:latin typeface="Aptos"/>
              </a:rPr>
              <a:t>By-</a:t>
            </a:r>
          </a:p>
          <a:p>
            <a:pPr algn="r"/>
            <a:r>
              <a:rPr sz="2000" b="1" dirty="0">
                <a:solidFill>
                  <a:srgbClr val="395245"/>
                </a:solidFill>
                <a:latin typeface="Aptos"/>
              </a:rPr>
              <a:t>Shivani</a:t>
            </a:r>
            <a:r>
              <a:rPr lang="en-IN" sz="2000" b="1" dirty="0">
                <a:solidFill>
                  <a:srgbClr val="395245"/>
                </a:solidFill>
                <a:latin typeface="Aptos"/>
              </a:rPr>
              <a:t> Kiran</a:t>
            </a:r>
            <a:endParaRPr sz="2000" b="1" dirty="0">
              <a:solidFill>
                <a:srgbClr val="39524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3E49-504F-BD8F-44BA-FB646FAC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3A121-26F8-61D0-A387-9D8CCB707E30}"/>
              </a:ext>
            </a:extLst>
          </p:cNvPr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>
                <a:solidFill>
                  <a:srgbClr val="395245"/>
                </a:solidFill>
                <a:latin typeface="Aptos"/>
              </a:rPr>
              <a:t>Introduction &amp; Project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12F3E-4B76-70AF-A0E9-A38133B068B9}"/>
              </a:ext>
            </a:extLst>
          </p:cNvPr>
          <p:cNvSpPr/>
          <p:nvPr/>
        </p:nvSpPr>
        <p:spPr>
          <a:xfrm>
            <a:off x="594360" y="841248"/>
            <a:ext cx="777240" cy="45720"/>
          </a:xfrm>
          <a:prstGeom prst="rect">
            <a:avLst/>
          </a:prstGeom>
          <a:solidFill>
            <a:srgbClr val="B8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F8BBF-32CE-8DE3-1D83-C595F486BB24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75E41-8A73-5BD8-001A-AE766E70D482}"/>
              </a:ext>
            </a:extLst>
          </p:cNvPr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B332D"/>
                </a:solidFill>
                <a:latin typeface="Aptos"/>
              </a:defRPr>
            </a:pPr>
            <a:r>
              <a:t>•  Bike-sharing demand is explored against time, weather, weekdays and holidays.</a:t>
            </a:r>
          </a:p>
          <a:p>
            <a:pPr>
              <a:spcAft>
                <a:spcPts val="1100"/>
              </a:spcAft>
              <a:defRPr sz="1800">
                <a:solidFill>
                  <a:srgbClr val="2B332D"/>
                </a:solidFill>
                <a:latin typeface="Aptos"/>
              </a:defRPr>
            </a:pPr>
            <a:r>
              <a:t>•  The workbook organizes rental data and supporting calendar/weather fields for analysis.</a:t>
            </a:r>
          </a:p>
          <a:p>
            <a:pPr>
              <a:spcAft>
                <a:spcPts val="1100"/>
              </a:spcAft>
              <a:defRPr sz="1800">
                <a:solidFill>
                  <a:srgbClr val="2B332D"/>
                </a:solidFill>
                <a:latin typeface="Aptos"/>
              </a:defRPr>
            </a:pPr>
            <a:r>
              <a:t>•  Excel outputs include an extract sheet, dashboard, pivot tables/charts, correlation charts, heatmap, anomaly analysis and forecasting.</a:t>
            </a:r>
          </a:p>
          <a:p>
            <a:pPr>
              <a:spcAft>
                <a:spcPts val="1100"/>
              </a:spcAft>
              <a:defRPr sz="1800">
                <a:solidFill>
                  <a:srgbClr val="2B332D"/>
                </a:solidFill>
                <a:latin typeface="Aptos"/>
              </a:defRPr>
            </a:pPr>
            <a:r>
              <a:t>•  The project goal is to turn raw data into understandable summaries that can support planning.</a:t>
            </a:r>
          </a:p>
        </p:txBody>
      </p:sp>
    </p:spTree>
    <p:extLst>
      <p:ext uri="{BB962C8B-B14F-4D97-AF65-F5344CB8AC3E}">
        <p14:creationId xmlns:p14="http://schemas.microsoft.com/office/powerpoint/2010/main" val="18482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DA44-4170-A215-389C-AEF803E9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5D12-6598-F2C4-B6A5-4DF8D12BC7B8}"/>
              </a:ext>
            </a:extLst>
          </p:cNvPr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>
                <a:solidFill>
                  <a:srgbClr val="395245"/>
                </a:solidFill>
                <a:latin typeface="Aptos"/>
              </a:rPr>
              <a:t>How I Completed the Project — Step by Step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D2186-E788-DD3D-1D82-13DC64541634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313D2-5CB2-D30F-3FA1-3B39EE73EBF7}"/>
              </a:ext>
            </a:extLst>
          </p:cNvPr>
          <p:cNvSpPr txBox="1"/>
          <p:nvPr/>
        </p:nvSpPr>
        <p:spPr>
          <a:xfrm>
            <a:off x="731520" y="1417320"/>
            <a:ext cx="1078992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Loaded the provided rental and weather datasets into Excel sheets.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Organized fields in EXTRACT DATA SHEET and used formulas to derive month, weekday and day-type labels.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Summarized demand with pivot tables and charts using grouping fields such as month, hour, weekday, holiday and weather.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Compared numerical fields with correlation charts </a:t>
            </a:r>
            <a:r>
              <a:rPr lang="en-US" sz="2000" dirty="0"/>
              <a:t>and</a:t>
            </a:r>
            <a:r>
              <a:rPr sz="2000" dirty="0"/>
              <a:t> values in the heatmap matrix.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Applied the IQR method to total rentals, calculated quartiles and boundaries, and separated normal/anomaly series.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Used the Forecast Sheet output to show predicted rentals with confidence bounds.</a:t>
            </a:r>
          </a:p>
          <a:p>
            <a:pPr marL="342900" indent="-342900">
              <a:spcAft>
                <a:spcPts val="1100"/>
              </a:spcAft>
              <a:buFont typeface="+mj-lt"/>
              <a:buAutoNum type="arabicPeriod"/>
              <a:defRPr sz="14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Collected key visual summaries in the dashboard for quick review.</a:t>
            </a:r>
          </a:p>
        </p:txBody>
      </p:sp>
    </p:spTree>
    <p:extLst>
      <p:ext uri="{BB962C8B-B14F-4D97-AF65-F5344CB8AC3E}">
        <p14:creationId xmlns:p14="http://schemas.microsoft.com/office/powerpoint/2010/main" val="121105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EADA-0BA3-ADB4-BC6C-66850F66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D773BF-7D29-A762-A821-D3E2847B346B}"/>
              </a:ext>
            </a:extLst>
          </p:cNvPr>
          <p:cNvSpPr txBox="1"/>
          <p:nvPr/>
        </p:nvSpPr>
        <p:spPr>
          <a:xfrm>
            <a:off x="566928" y="256032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 dirty="0">
                <a:solidFill>
                  <a:srgbClr val="395245"/>
                </a:solidFill>
                <a:latin typeface="Aptos"/>
              </a:rPr>
              <a:t>Extract Data Sheet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46A158-2890-3879-EE18-0AC6911EA49F}"/>
              </a:ext>
            </a:extLst>
          </p:cNvPr>
          <p:cNvSpPr/>
          <p:nvPr/>
        </p:nvSpPr>
        <p:spPr>
          <a:xfrm>
            <a:off x="594360" y="841248"/>
            <a:ext cx="777240" cy="45720"/>
          </a:xfrm>
          <a:prstGeom prst="rect">
            <a:avLst/>
          </a:prstGeom>
          <a:solidFill>
            <a:srgbClr val="B8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18C7A-2C57-5249-8ED5-0155089D44AD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5A746-96DD-C000-2571-A18E857CA5A7}"/>
              </a:ext>
            </a:extLst>
          </p:cNvPr>
          <p:cNvSpPr txBox="1"/>
          <p:nvPr/>
        </p:nvSpPr>
        <p:spPr>
          <a:xfrm>
            <a:off x="594360" y="1188720"/>
            <a:ext cx="10030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Preprocessing raw data set 1 and 2 and merging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Appended data set 3 with preprocessing appended data sheet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Preparation of final data sheet for analysis of project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7500C3-89E6-8E7E-D247-DBD5EE62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9568"/>
            <a:ext cx="12192000" cy="2750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2772AF-F7B3-464B-0602-C5C540CE61BF}"/>
              </a:ext>
            </a:extLst>
          </p:cNvPr>
          <p:cNvSpPr txBox="1"/>
          <p:nvPr/>
        </p:nvSpPr>
        <p:spPr>
          <a:xfrm>
            <a:off x="402770" y="5340310"/>
            <a:ext cx="10036629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2B332D"/>
                </a:solidFill>
                <a:latin typeface="Aptos"/>
              </a:defRPr>
            </a:pPr>
            <a:r>
              <a:rPr lang="en-US" sz="1600" b="1" dirty="0"/>
              <a:t>What was extracted -   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200">
                <a:solidFill>
                  <a:srgbClr val="2B332D"/>
                </a:solidFill>
                <a:latin typeface="Aptos"/>
              </a:defRPr>
            </a:pPr>
            <a:r>
              <a:rPr lang="en-US" sz="1600" dirty="0"/>
              <a:t>Calendar/time fields include date, season, year, month, hour, holiday and weekday.</a:t>
            </a:r>
          </a:p>
          <a:p>
            <a:pPr marL="285750" indent="-285750">
              <a:spcAft>
                <a:spcPts val="1100"/>
              </a:spcAft>
              <a:buFont typeface="Arial" panose="020B0604020202020204" pitchFamily="34" charset="0"/>
              <a:buChar char="•"/>
              <a:defRPr sz="1200">
                <a:solidFill>
                  <a:srgbClr val="2B332D"/>
                </a:solidFill>
                <a:latin typeface="Aptos"/>
              </a:defRPr>
            </a:pPr>
            <a:r>
              <a:rPr lang="en-US" sz="1600" dirty="0"/>
              <a:t>Weather fields describe conditions; rental measures include casual, registered and total rentals.</a:t>
            </a:r>
          </a:p>
        </p:txBody>
      </p:sp>
    </p:spTree>
    <p:extLst>
      <p:ext uri="{BB962C8B-B14F-4D97-AF65-F5344CB8AC3E}">
        <p14:creationId xmlns:p14="http://schemas.microsoft.com/office/powerpoint/2010/main" val="111464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4F84A-7A50-44CE-B77B-B72E5AB4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49" y="783772"/>
            <a:ext cx="6643573" cy="2645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07B27C-0F92-681D-6959-5D3E2CBD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614058"/>
            <a:ext cx="11898086" cy="3172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44BAB2-1658-B957-E47F-20E72DC149B8}"/>
              </a:ext>
            </a:extLst>
          </p:cNvPr>
          <p:cNvSpPr txBox="1"/>
          <p:nvPr/>
        </p:nvSpPr>
        <p:spPr>
          <a:xfrm>
            <a:off x="7380514" y="1219201"/>
            <a:ext cx="3814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Rentals – 58,304</a:t>
            </a:r>
          </a:p>
          <a:p>
            <a:r>
              <a:rPr lang="en-US" dirty="0"/>
              <a:t>Average Casuals – 4,921</a:t>
            </a:r>
          </a:p>
          <a:p>
            <a:r>
              <a:rPr lang="en-US" dirty="0"/>
              <a:t>Average Registered – 53,383</a:t>
            </a:r>
          </a:p>
          <a:p>
            <a:r>
              <a:rPr lang="en-US" dirty="0"/>
              <a:t>Total records – 1000</a:t>
            </a:r>
          </a:p>
          <a:p>
            <a:r>
              <a:rPr lang="en-US" dirty="0"/>
              <a:t>Total days - 45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2716F-B3CF-9E98-6F7F-EFA4B65258EB}"/>
              </a:ext>
            </a:extLst>
          </p:cNvPr>
          <p:cNvSpPr txBox="1"/>
          <p:nvPr/>
        </p:nvSpPr>
        <p:spPr>
          <a:xfrm>
            <a:off x="249721" y="1267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Statistical Overview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4097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8354-3F55-4FA0-737C-B4CFF7E2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28565-F531-09C7-193B-2FDDE686CA90}"/>
              </a:ext>
            </a:extLst>
          </p:cNvPr>
          <p:cNvSpPr txBox="1"/>
          <p:nvPr/>
        </p:nvSpPr>
        <p:spPr>
          <a:xfrm>
            <a:off x="595803" y="256032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 dirty="0">
                <a:solidFill>
                  <a:srgbClr val="395245"/>
                </a:solidFill>
                <a:latin typeface="Aptos"/>
              </a:rPr>
              <a:t>Heatmap Correlation </a:t>
            </a:r>
            <a:r>
              <a:rPr lang="en-US" sz="2500" b="1" dirty="0">
                <a:solidFill>
                  <a:srgbClr val="395245"/>
                </a:solidFill>
                <a:latin typeface="Aptos"/>
              </a:rPr>
              <a:t>Sheet</a:t>
            </a:r>
            <a:endParaRPr sz="2500" b="1" dirty="0">
              <a:solidFill>
                <a:srgbClr val="395245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0FD7B-DA36-7CBA-B8CE-FBC00CCAA0A2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heatmap_chart.png">
            <a:extLst>
              <a:ext uri="{FF2B5EF4-FFF2-40B4-BE49-F238E27FC236}">
                <a16:creationId xmlns:a16="http://schemas.microsoft.com/office/drawing/2014/main" id="{C08ACFAA-6317-5AAE-90DA-7F5877512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4297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6DEE6C-C010-DD54-E83D-B202427B58FE}"/>
              </a:ext>
            </a:extLst>
          </p:cNvPr>
          <p:cNvSpPr txBox="1"/>
          <p:nvPr/>
        </p:nvSpPr>
        <p:spPr>
          <a:xfrm>
            <a:off x="7635240" y="816006"/>
            <a:ext cx="3840480" cy="482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Step 1: selected numeric columns (temperature, apparent temperature, humidity, wind speed and rental counts).</a:t>
            </a:r>
          </a:p>
          <a:p>
            <a:pPr>
              <a:spcAft>
                <a:spcPts val="1100"/>
              </a:spcAft>
              <a:defRPr sz="12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Step 2: calculated pairwise correlations using CORREL().</a:t>
            </a:r>
          </a:p>
          <a:p>
            <a:pPr>
              <a:spcAft>
                <a:spcPts val="1100"/>
              </a:spcAft>
              <a:defRPr sz="12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Step 3: arranged coefficients in a matrix and applied </a:t>
            </a:r>
            <a:r>
              <a:rPr sz="2000" dirty="0" err="1"/>
              <a:t>colour</a:t>
            </a:r>
            <a:r>
              <a:rPr sz="2000" dirty="0"/>
              <a:t> formatting.</a:t>
            </a:r>
          </a:p>
          <a:p>
            <a:pPr>
              <a:spcAft>
                <a:spcPts val="1100"/>
              </a:spcAft>
              <a:defRPr sz="12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Green tones indicate positive association; red tones indicate negative association; values near zero indicate weak linear association.</a:t>
            </a:r>
          </a:p>
        </p:txBody>
      </p:sp>
    </p:spTree>
    <p:extLst>
      <p:ext uri="{BB962C8B-B14F-4D97-AF65-F5344CB8AC3E}">
        <p14:creationId xmlns:p14="http://schemas.microsoft.com/office/powerpoint/2010/main" val="356868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BEFE0-B6D4-1A56-3D5E-91D08D4697EC}"/>
              </a:ext>
            </a:extLst>
          </p:cNvPr>
          <p:cNvSpPr txBox="1"/>
          <p:nvPr/>
        </p:nvSpPr>
        <p:spPr>
          <a:xfrm>
            <a:off x="435429" y="10886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Pivot Chart overview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42F2E-826B-4569-0469-42FD27EA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971" y="334051"/>
            <a:ext cx="4419600" cy="2854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61887-BB69-2C3B-58ED-B0E6F8645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15" y="3799114"/>
            <a:ext cx="5542884" cy="2815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233ECA-C226-668F-6F42-26BD97A2E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543" y="3080657"/>
            <a:ext cx="4954909" cy="33365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E1007C-7B41-C525-3DD6-93C04CFCAC5F}"/>
              </a:ext>
            </a:extLst>
          </p:cNvPr>
          <p:cNvSpPr txBox="1"/>
          <p:nvPr/>
        </p:nvSpPr>
        <p:spPr>
          <a:xfrm>
            <a:off x="435429" y="838193"/>
            <a:ext cx="5992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were prepared illustrating demand for various possible combinations to </a:t>
            </a:r>
            <a:r>
              <a:rPr lang="en-US" dirty="0" err="1"/>
              <a:t>analyse</a:t>
            </a:r>
            <a:r>
              <a:rPr lang="en-US" dirty="0"/>
              <a:t> relations of variation of data based on specific parameters.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of these charts is attached.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81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3311-14C6-7B55-B313-A763197E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4FE2D-FB49-4035-B141-3A8F09227F7C}"/>
              </a:ext>
            </a:extLst>
          </p:cNvPr>
          <p:cNvSpPr txBox="1"/>
          <p:nvPr/>
        </p:nvSpPr>
        <p:spPr>
          <a:xfrm>
            <a:off x="435429" y="10886"/>
            <a:ext cx="588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Correlation Chart overview</a:t>
            </a:r>
            <a:endParaRPr lang="en-IN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A41D6-69F9-6319-66A4-4192AA12C7F0}"/>
              </a:ext>
            </a:extLst>
          </p:cNvPr>
          <p:cNvSpPr txBox="1"/>
          <p:nvPr/>
        </p:nvSpPr>
        <p:spPr>
          <a:xfrm>
            <a:off x="435429" y="838193"/>
            <a:ext cx="5992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analysis charts helps understand how weather conditions influence bike-sharing demand and supports better demand forecasting.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173488-1C29-082D-B374-FD6DBCA2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20" y="241670"/>
            <a:ext cx="4934204" cy="3111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73CB63-7EAC-C21A-0ABB-BF07BFD9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74" y="3149038"/>
            <a:ext cx="5143755" cy="3336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7C2AC6-7BB9-6EB4-C59A-635C75032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843" y="3373508"/>
            <a:ext cx="4704681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8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5AB2-D9F5-054A-A8F4-90A0E377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C2206-B2BF-3A77-3A1B-87F88149D75A}"/>
              </a:ext>
            </a:extLst>
          </p:cNvPr>
          <p:cNvSpPr txBox="1"/>
          <p:nvPr/>
        </p:nvSpPr>
        <p:spPr>
          <a:xfrm>
            <a:off x="566928" y="256032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US" sz="2500" b="1" dirty="0">
                <a:solidFill>
                  <a:srgbClr val="395245"/>
                </a:solidFill>
                <a:latin typeface="Aptos"/>
              </a:rPr>
              <a:t>Anomaly Sheet Analysis</a:t>
            </a:r>
            <a:endParaRPr sz="2500" b="1" dirty="0">
              <a:solidFill>
                <a:srgbClr val="395245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2B866-7A65-CEC6-9D58-BE85376A5A80}"/>
              </a:ext>
            </a:extLst>
          </p:cNvPr>
          <p:cNvSpPr/>
          <p:nvPr/>
        </p:nvSpPr>
        <p:spPr>
          <a:xfrm>
            <a:off x="594360" y="841248"/>
            <a:ext cx="777240" cy="45720"/>
          </a:xfrm>
          <a:prstGeom prst="rect">
            <a:avLst/>
          </a:prstGeom>
          <a:solidFill>
            <a:srgbClr val="B8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31F27-FD7C-9C7F-5619-3B6E7984C136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98A50-6030-AA88-FE08-573E7E60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119" y="758952"/>
            <a:ext cx="5626389" cy="2121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29CDBE-FFFD-9396-2B58-7C1385A3C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64335"/>
            <a:ext cx="11167872" cy="3280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912C4D-81B7-CEE7-0209-0F20B2E7F8CF}"/>
              </a:ext>
            </a:extLst>
          </p:cNvPr>
          <p:cNvSpPr txBox="1"/>
          <p:nvPr/>
        </p:nvSpPr>
        <p:spPr>
          <a:xfrm>
            <a:off x="566928" y="1274020"/>
            <a:ext cx="55290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chart highlights normal rental values in blue and anomalous values in orange.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observation fall within normal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unusual high value indicate potential demand spikes.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35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9610-9DF2-98AF-BE77-CFAE5A81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5D903-C995-5A4D-CF26-94219B121901}"/>
              </a:ext>
            </a:extLst>
          </p:cNvPr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>
                <a:solidFill>
                  <a:srgbClr val="395245"/>
                </a:solidFill>
                <a:latin typeface="Aptos"/>
              </a:rPr>
              <a:t>Forecasting Sheet — What I Have 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67099-784A-DE77-A180-F8032C9DDFC1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DD854-54C8-056B-71B0-0DF5C10D9E21}"/>
              </a:ext>
            </a:extLst>
          </p:cNvPr>
          <p:cNvSpPr txBox="1"/>
          <p:nvPr/>
        </p:nvSpPr>
        <p:spPr>
          <a:xfrm>
            <a:off x="731520" y="1417320"/>
            <a:ext cx="10789920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Kept the date column as the timeline and total rentals as the target series.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Used Excel's Forecast Sheet output, with forecast and lower/upper confidence-bound columns.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Placed historical values and predicted values on the same time axis for comparison.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Used confidence bounds to communicate forecast uncertainty rather than presenting a single value as certain.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Before presenting, verify that the forecast output has recalculated in Excel and that date ranges are correct.</a:t>
            </a:r>
          </a:p>
        </p:txBody>
      </p:sp>
    </p:spTree>
    <p:extLst>
      <p:ext uri="{BB962C8B-B14F-4D97-AF65-F5344CB8AC3E}">
        <p14:creationId xmlns:p14="http://schemas.microsoft.com/office/powerpoint/2010/main" val="409411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D807-4400-E515-A087-E70A074A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2B3D3C-11FC-619E-1EE2-F5375E4AEB03}"/>
              </a:ext>
            </a:extLst>
          </p:cNvPr>
          <p:cNvSpPr txBox="1"/>
          <p:nvPr/>
        </p:nvSpPr>
        <p:spPr>
          <a:xfrm>
            <a:off x="566928" y="256032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US" sz="2500" b="1" dirty="0">
                <a:solidFill>
                  <a:srgbClr val="395245"/>
                </a:solidFill>
                <a:latin typeface="Aptos"/>
              </a:rPr>
              <a:t>Forecast Sheet Analysis</a:t>
            </a:r>
            <a:endParaRPr sz="2500" b="1" dirty="0">
              <a:solidFill>
                <a:srgbClr val="395245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3C92D7-32CB-7B6D-252F-878B503754D8}"/>
              </a:ext>
            </a:extLst>
          </p:cNvPr>
          <p:cNvSpPr/>
          <p:nvPr/>
        </p:nvSpPr>
        <p:spPr>
          <a:xfrm>
            <a:off x="594360" y="841248"/>
            <a:ext cx="777240" cy="45720"/>
          </a:xfrm>
          <a:prstGeom prst="rect">
            <a:avLst/>
          </a:prstGeom>
          <a:solidFill>
            <a:srgbClr val="B8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0F8EB-40AF-95DA-3197-A79F8844EE35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1A579-1255-CCAA-D42D-A65D1ADDCD50}"/>
              </a:ext>
            </a:extLst>
          </p:cNvPr>
          <p:cNvSpPr txBox="1"/>
          <p:nvPr/>
        </p:nvSpPr>
        <p:spPr>
          <a:xfrm>
            <a:off x="566927" y="1274020"/>
            <a:ext cx="11233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 sheet studies the historical raw data provided and based on it gives expected forecasting of upcoming days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Forecasted values are given orange </a:t>
            </a:r>
            <a:r>
              <a:rPr lang="en-US" dirty="0" err="1"/>
              <a:t>colour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26A23-5D80-CE47-0C1A-EE15EBDE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0" y="2171513"/>
            <a:ext cx="10972800" cy="410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7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CCE7-F219-F79A-844C-8A7E7D48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3DF86-FAFC-9D25-B093-0425035FF90C}"/>
              </a:ext>
            </a:extLst>
          </p:cNvPr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>
                <a:solidFill>
                  <a:srgbClr val="395245"/>
                </a:solidFill>
                <a:latin typeface="Aptos"/>
              </a:rPr>
              <a:t>Dashboard — What I Have Done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7FE59-6016-C239-8440-9C76ED0BC4E6}"/>
              </a:ext>
            </a:extLst>
          </p:cNvPr>
          <p:cNvSpPr/>
          <p:nvPr/>
        </p:nvSpPr>
        <p:spPr>
          <a:xfrm>
            <a:off x="594360" y="841248"/>
            <a:ext cx="777240" cy="45720"/>
          </a:xfrm>
          <a:prstGeom prst="rect">
            <a:avLst/>
          </a:prstGeom>
          <a:solidFill>
            <a:srgbClr val="B8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2BF34-4EEC-8A2E-E445-FFA50812028F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720D7-FEC0-FC80-D4C4-1E1F0ACA3906}"/>
              </a:ext>
            </a:extLst>
          </p:cNvPr>
          <p:cNvSpPr txBox="1"/>
          <p:nvPr/>
        </p:nvSpPr>
        <p:spPr>
          <a:xfrm>
            <a:off x="731520" y="1417320"/>
            <a:ext cx="1078992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32D"/>
                </a:solidFill>
                <a:latin typeface="Aptos"/>
              </a:defRPr>
            </a:pPr>
            <a:r>
              <a:rPr dirty="0"/>
              <a:t>•  </a:t>
            </a:r>
            <a:r>
              <a:rPr sz="2000" dirty="0"/>
              <a:t>Collected key charts into one dashboard sheet for a consolidated view.</a:t>
            </a:r>
          </a:p>
          <a:p>
            <a:pPr>
              <a:spcAft>
                <a:spcPts val="1100"/>
              </a:spcAft>
              <a:defRPr sz="17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The worksheet contains eight embedded charts and three embedded images.</a:t>
            </a:r>
          </a:p>
          <a:p>
            <a:pPr>
              <a:spcAft>
                <a:spcPts val="1100"/>
              </a:spcAft>
              <a:defRPr sz="17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Chart objects include bar, 3-D bar, line and pie charts.</a:t>
            </a:r>
          </a:p>
          <a:p>
            <a:pPr>
              <a:spcAft>
                <a:spcPts val="1100"/>
              </a:spcAft>
              <a:defRPr sz="17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The dashboard gives a quick visual overview; detailed values should be checked against the pivot tables.</a:t>
            </a:r>
          </a:p>
        </p:txBody>
      </p:sp>
    </p:spTree>
    <p:extLst>
      <p:ext uri="{BB962C8B-B14F-4D97-AF65-F5344CB8AC3E}">
        <p14:creationId xmlns:p14="http://schemas.microsoft.com/office/powerpoint/2010/main" val="67320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0CD2-BF0D-5926-F00A-DC6322FB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E09AD-9AAC-8837-2C63-952F679CF3AD}"/>
              </a:ext>
            </a:extLst>
          </p:cNvPr>
          <p:cNvSpPr txBox="1"/>
          <p:nvPr/>
        </p:nvSpPr>
        <p:spPr>
          <a:xfrm>
            <a:off x="502920" y="83434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US" sz="2500" b="1" dirty="0">
                <a:solidFill>
                  <a:srgbClr val="395245"/>
                </a:solidFill>
                <a:latin typeface="Aptos"/>
              </a:rPr>
              <a:t>Dashboard Overview</a:t>
            </a:r>
            <a:endParaRPr sz="2500" b="1" dirty="0">
              <a:solidFill>
                <a:srgbClr val="395245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13F0F-F3C3-41F3-6E1A-382F57C0F865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AF939-34E9-5DD6-E349-780EEC4BEABF}"/>
              </a:ext>
            </a:extLst>
          </p:cNvPr>
          <p:cNvSpPr txBox="1"/>
          <p:nvPr/>
        </p:nvSpPr>
        <p:spPr>
          <a:xfrm>
            <a:off x="333514" y="474888"/>
            <a:ext cx="112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gives the user friendly final look to get raw data and summary analysis in one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E0733-EA5D-04A9-8CF4-C4E49246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7" y="1126157"/>
            <a:ext cx="11534274" cy="554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5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F630-9253-D7C0-5019-DAE16CF6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70BBB-6B0F-60A4-6B42-0274DDC481C7}"/>
              </a:ext>
            </a:extLst>
          </p:cNvPr>
          <p:cNvSpPr txBox="1"/>
          <p:nvPr/>
        </p:nvSpPr>
        <p:spPr>
          <a:xfrm>
            <a:off x="566928" y="256032"/>
            <a:ext cx="11064240" cy="4585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 dirty="0">
                <a:solidFill>
                  <a:srgbClr val="FF0000"/>
                </a:solidFill>
                <a:latin typeface="Aptos"/>
              </a:rPr>
              <a:t>Summary &amp; Interpretation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EA439-7B1C-F845-A67D-57863E26F58E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5F63C-3DBB-ED2A-4C36-FF2C929485E2}"/>
              </a:ext>
            </a:extLst>
          </p:cNvPr>
          <p:cNvSpPr txBox="1"/>
          <p:nvPr/>
        </p:nvSpPr>
        <p:spPr>
          <a:xfrm>
            <a:off x="731520" y="1417320"/>
            <a:ext cx="10789920" cy="295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Rental demand is summarized by multiple time and weather dimensions in the workbook.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The dashboard combines several charts into one overview.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Pivot tables reduce raw rows into comparable group-level metrics.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Correlation and heatmap views show direction and strength of linear relationships, not causation.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The IQR sheet flags unusually low or high total-rental values for further review.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sz="2000" dirty="0"/>
              <a:t>•  The forecast view supports planning but should be compared with actual future data.</a:t>
            </a:r>
          </a:p>
        </p:txBody>
      </p:sp>
    </p:spTree>
    <p:extLst>
      <p:ext uri="{BB962C8B-B14F-4D97-AF65-F5344CB8AC3E}">
        <p14:creationId xmlns:p14="http://schemas.microsoft.com/office/powerpoint/2010/main" val="3704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D69D-115D-B644-2963-6F1917ED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919874-55ED-2E5B-B112-FB279026151F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CF7B1-E785-CC69-F11F-912F2A27BBD9}"/>
              </a:ext>
            </a:extLst>
          </p:cNvPr>
          <p:cNvSpPr txBox="1"/>
          <p:nvPr/>
        </p:nvSpPr>
        <p:spPr>
          <a:xfrm>
            <a:off x="356134" y="387417"/>
            <a:ext cx="1078992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sz="2800" b="1" dirty="0"/>
              <a:t>Strategic Recommendations</a:t>
            </a:r>
          </a:p>
          <a:p>
            <a:pPr>
              <a:spcAft>
                <a:spcPts val="1100"/>
              </a:spcAft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sz="2000" dirty="0">
                <a:solidFill>
                  <a:srgbClr val="FF0000"/>
                </a:solidFill>
              </a:rPr>
              <a:t>Practical actions to improve bike-sharing service performance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dirty="0"/>
              <a:t>Strengthen Rush-Hour Fleet Planning: Position additional bicycles at high-demand stations ahead of commuter peaks, using historical trip data to anticipate morning and evening shortages.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dirty="0"/>
              <a:t>Use Member Trends to Forecast Demand: Review repeat journeys and subscription activity to identify regular travel patterns, then align station capacity and rebalancing schedules with those trends.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dirty="0"/>
              <a:t>Integrate Weather into Daily Decisions: Include rainfall, temperature and wind forecasts in staffing and fleet plans. Adjust bicycle redistribution and customer communications when conditions are likely to affect trips.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dirty="0"/>
              <a:t>Increase Engagement Among Occasional Riders: Create targeted campaigns that encourage infrequent users to ride more often. Potential initiatives include: Off-peak and weekend ride offers, Limited-time seasonal promotions, Rainy-day or clear-weather incentives and Introductory credits for a first trip 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  <a:defRPr sz="1600">
                <a:solidFill>
                  <a:srgbClr val="2B332D"/>
                </a:solidFill>
                <a:latin typeface="Aptos"/>
              </a:defRPr>
            </a:pPr>
            <a:r>
              <a:rPr lang="en-US" dirty="0"/>
              <a:t>Implementation note: Track bicycle availability, trip completion, repeat usage and campaign response each week to identify which actions deliver measurable improvements.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937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F4A3-8256-0BFC-3CAA-6184FEC6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C8B4DB-0960-C770-2A2A-63F991E6A625}"/>
              </a:ext>
            </a:extLst>
          </p:cNvPr>
          <p:cNvSpPr txBox="1"/>
          <p:nvPr/>
        </p:nvSpPr>
        <p:spPr>
          <a:xfrm>
            <a:off x="11064240" y="6528816"/>
            <a:ext cx="502920" cy="14630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800" b="0">
                <a:solidFill>
                  <a:srgbClr val="646D65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Thank you ppt Images - Free Download on Magnific (formerly Freepik)">
            <a:extLst>
              <a:ext uri="{FF2B5EF4-FFF2-40B4-BE49-F238E27FC236}">
                <a16:creationId xmlns:a16="http://schemas.microsoft.com/office/drawing/2014/main" id="{7B87E623-72DF-38FA-5148-19DDCF6B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706705"/>
            <a:ext cx="62674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51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915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Kishore</dc:creator>
  <cp:keywords/>
  <dc:description>generated using python-pptx</dc:description>
  <cp:lastModifiedBy>Kishore, Amit (किशोर, अमित)</cp:lastModifiedBy>
  <cp:revision>7</cp:revision>
  <dcterms:created xsi:type="dcterms:W3CDTF">2013-01-27T09:14:16Z</dcterms:created>
  <dcterms:modified xsi:type="dcterms:W3CDTF">2026-10-10T17:30:49Z</dcterms:modified>
  <cp:category/>
</cp:coreProperties>
</file>